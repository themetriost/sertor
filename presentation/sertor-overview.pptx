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egoe UI"/>
              </a:rPr>
              <a:t>Sertor</a:t>
            </a:r>
          </a:p>
          <a:p>
            <a:pPr algn="l"/>
            <a:r>
              <a:rPr sz="2600" b="0">
                <a:solidFill>
                  <a:srgbClr val="BFD2F5"/>
                </a:solidFill>
                <a:latin typeface="Segoe UI"/>
              </a:rPr>
              <a:t>Framework RAG enterprise — dal prototipo alla produzione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200000"/>
            <a:ext cx="10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B0D0"/>
                </a:solidFill>
                <a:latin typeface="Segoe UI"/>
              </a:rPr>
              <a:t>Repo-agnostico · local-first ↔ cloud · libreria + CLI + MCP · governance SpecKit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950000"/>
          </a:xfrm>
          <a:prstGeom prst="roundRect">
            <a:avLst/>
          </a:prstGeom>
          <a:solidFill>
            <a:srgbClr val="1F2A44"/>
          </a:solidFill>
          <a:ln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3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Cos'è Sertor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250000"/>
            <a:ext cx="106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In una frase: un motore di ricerca semantica per il tuo progetto — codice + documentazione — portabile e governato.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5F6B7A"/>
                </a:solidFill>
                <a:latin typeface="Segoe UI"/>
              </a:rPr>
              <a:t>•  Indicizza un repository e recupera i passaggi più pertinenti a una domanda in linguaggio naturale, citando il file.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RAG = Retrieval-Augmented Generation; Sertor copre la parte di retrieval (trovare il contesto giusto).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Tre capacità: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Nucleo di retrieval riusabile: ingestione, chunking, embeddings, vector store, facade.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Motori RAG: baseline oggi; ibrido / grafo / agentico in arrivo.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Skill LLM Wiki: la conoscenza distillata (decisioni, il “perché”) indicizzata col resto.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Come si usa: libreria Python · CLI `sertor` · strumento per agenti LLM (via MCP).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B86E00"/>
                </a:solidFill>
                <a:latin typeface="Segoe UI"/>
              </a:rPr>
              <a:t>•  Cosa NON è: non è un chatbot né un LLM proprio; non produce la risposta finale — fornisce il contesto pertinente.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6200000"/>
            <a:ext cx="10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Segoe UI"/>
              </a:rPr>
              <a:t>Obiettivo: portare questa capacità su QUALUNQUE repo, in modo riproducibile e production-grade.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950000"/>
          </a:xfrm>
          <a:prstGeom prst="roundRect">
            <a:avLst/>
          </a:prstGeom>
          <a:solidFill>
            <a:srgbClr val="1F2A44"/>
          </a:solidFill>
          <a:ln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3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Il problema &amp; la visione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250000"/>
            <a:ext cx="106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5F6B7A"/>
                </a:solidFill>
                <a:latin typeface="Segoe UI"/>
              </a:rPr>
              <a:t>•  La conoscenza di un progetto (codice + perché/decisioni) si disperde e si ricostruisce ogni volta.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Obiettivo: portare capacità RAG su QUALUNQUE repository, in modo riproducibile.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Repo-agnostico, production-grade, testabile e misurabile.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Local-first ↔ cloud commutabile via configurazione (no lock-in).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Riusabile come libreria, esposto via CLI e via MCP (per agenti LLM).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6200000"/>
            <a:ext cx="10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Segoe UI"/>
              </a:rPr>
              <a:t>Sertor = nucleo di retrieval + motori RAG + skill LLM Wiki, sopra una governance esplicita.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2400000"/>
            <a:ext cx="240000" cy="1600000"/>
          </a:xfrm>
          <a:prstGeom prst="roundRect">
            <a:avLst/>
          </a:prstGeom>
          <a:solidFill>
            <a:srgbClr val="2D6CDF"/>
          </a:solidFill>
          <a:ln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0000" y="2400000"/>
            <a:ext cx="100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6CDF"/>
                </a:solidFill>
                <a:latin typeface="Segoe UI"/>
              </a:rPr>
              <a:t>Atto 1</a:t>
            </a:r>
          </a:p>
          <a:p>
            <a:pPr algn="l"/>
            <a:r>
              <a:rPr sz="4000" b="1">
                <a:solidFill>
                  <a:srgbClr val="1F2A44"/>
                </a:solidFill>
                <a:latin typeface="Segoe UI"/>
              </a:rPr>
              <a:t>L'esperimento</a:t>
            </a:r>
          </a:p>
          <a:p>
            <a:pPr algn="l"/>
            <a:r>
              <a:rPr sz="2000" b="0">
                <a:solidFill>
                  <a:srgbClr val="5F6B7A"/>
                </a:solidFill>
                <a:latin typeface="Segoe UI"/>
              </a:rPr>
              <a:t>Il prototipo: 4 approcci RAG su un corpus reale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950000"/>
          </a:xfrm>
          <a:prstGeom prst="roundRect">
            <a:avLst/>
          </a:prstGeom>
          <a:solidFill>
            <a:srgbClr val="1F2A44"/>
          </a:solidFill>
          <a:ln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3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Atto 1 — Il prototipo (congelato)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250000"/>
            <a:ext cx="106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4 modalità RAG costruite su un corpus FastAPI: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Baseline vettoriale · Ibrido (BM25+dense+reranking) · GraphRAG · Agentico.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5F6B7A"/>
                </a:solidFill>
                <a:latin typeface="Segoe UI"/>
              </a:rPr>
              <a:t>•  Local-first (Ollama + Chroma) e variante Azure (OpenAI + AI Search).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E8E3E"/>
                </a:solidFill>
                <a:latin typeface="Segoe UI"/>
              </a:rPr>
              <a:t>•  Ha dimostrato la fattibilità tecnica delle 4 strade.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B86E00"/>
                </a:solidFill>
                <a:latin typeface="Segoe UI"/>
              </a:rPr>
              <a:t>•  Ma: esplorativo, codice accoppiato al corpus, senza test, non riusabile come componente.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egoe UI"/>
              </a:rPr>
              <a:t>    –  Lezione → serve rifarlo a qualità di produzione, repo-agnostico e testato.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6200000"/>
            <a:ext cx="10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Segoe UI"/>
              </a:rPr>
              <a:t>Il prototipo è ora congelato e indicizzato come riferimento (dogfooding).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2400000"/>
            <a:ext cx="240000" cy="1600000"/>
          </a:xfrm>
          <a:prstGeom prst="roundRect">
            <a:avLst/>
          </a:prstGeom>
          <a:solidFill>
            <a:srgbClr val="2D6CDF"/>
          </a:solidFill>
          <a:ln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0000" y="2400000"/>
            <a:ext cx="100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6CDF"/>
                </a:solidFill>
                <a:latin typeface="Segoe UI"/>
              </a:rPr>
              <a:t>Atto 2</a:t>
            </a:r>
          </a:p>
          <a:p>
            <a:pPr algn="l"/>
            <a:r>
              <a:rPr sz="4000" b="1">
                <a:solidFill>
                  <a:srgbClr val="1F2A44"/>
                </a:solidFill>
                <a:latin typeface="Segoe UI"/>
              </a:rPr>
              <a:t>La svolta in produzione</a:t>
            </a:r>
          </a:p>
          <a:p>
            <a:pPr algn="l"/>
            <a:r>
              <a:rPr sz="2000" b="0">
                <a:solidFill>
                  <a:srgbClr val="5F6B7A"/>
                </a:solidFill>
                <a:latin typeface="Segoe UI"/>
              </a:rPr>
              <a:t>Governance esplicita + Clean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950000"/>
          </a:xfrm>
          <a:prstGeom prst="roundRect">
            <a:avLst/>
          </a:prstGeom>
          <a:solidFill>
            <a:srgbClr val="1F2A44"/>
          </a:solidFill>
          <a:ln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3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Atto 2 — Come lavoriamo 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250000"/>
            <a:ext cx="106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Costituzione di progetto (v1.0.0): 9 principi vincolanti.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Es. core a dipendenze verso l'interno; errori espliciti; idempotenza; config centralizzata; osservabilità.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Pipeline SpecKit per ogni feature, con gate di qualità: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requirements (EARS) → spec → plan (Constitution Check) → tasks → analyze → implement.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5F6B7A"/>
                </a:solidFill>
                <a:latin typeface="Segoe UI"/>
              </a:rPr>
              <a:t>•  Clean Architecture: dominio puro ← servizi/adapter; provider intercambiabili dietro porte.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E8E3E"/>
                </a:solidFill>
                <a:latin typeface="Segoe UI"/>
              </a:rPr>
              <a:t>•  Branch + PR + test per ogni passo (niente push diretti su master).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950000"/>
          </a:xfrm>
          <a:prstGeom prst="roundRect">
            <a:avLst/>
          </a:prstGeom>
          <a:solidFill>
            <a:srgbClr val="1F2A44"/>
          </a:solidFill>
          <a:ln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3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Architettura — Clean Architecture (dipendenze verso l'interno)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000" y="1500000"/>
            <a:ext cx="10400000" cy="900000"/>
          </a:xfrm>
          <a:prstGeom prst="roundRect">
            <a:avLst/>
          </a:prstGeom>
          <a:solidFill>
            <a:srgbClr val="F2F5FA"/>
          </a:solidFill>
          <a:ln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6CDF"/>
                </a:solidFill>
                <a:latin typeface="Segoe UI"/>
              </a:rPr>
              <a:t>Consumatori:  CLI `sertor`  ·  Server MCP  ·  (futuro) altri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000" y="2550000"/>
            <a:ext cx="10400000" cy="750000"/>
          </a:xfrm>
          <a:prstGeom prst="roundRect">
            <a:avLst/>
          </a:prstGeom>
          <a:solidFill>
            <a:srgbClr val="F2F5FA"/>
          </a:solidFill>
          <a:ln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F6B7A"/>
                </a:solidFill>
                <a:latin typeface="Segoe UI"/>
              </a:rPr>
              <a:t>Composition root  —  wiring da configurazione (.env)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3450000"/>
            <a:ext cx="10400000" cy="800000"/>
          </a:xfrm>
          <a:prstGeom prst="roundRect">
            <a:avLst/>
          </a:prstGeom>
          <a:solidFill>
            <a:srgbClr val="F2F5FA"/>
          </a:solidFill>
          <a:ln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86E00"/>
                </a:solidFill>
                <a:latin typeface="Segoe UI"/>
              </a:rPr>
              <a:t>Adapters:  Ollama / Azure (embeddings, LLM)  ·  Chroma / Azure AI Search (store)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4400000"/>
            <a:ext cx="10400000" cy="800000"/>
          </a:xfrm>
          <a:prstGeom prst="roundRect">
            <a:avLst/>
          </a:prstGeom>
          <a:solidFill>
            <a:srgbClr val="F2F5FA"/>
          </a:solidFill>
          <a:ln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8E3E"/>
                </a:solidFill>
                <a:latin typeface="Segoe UI"/>
              </a:rPr>
              <a:t>Services / Engines / Wiki:  ingestione · chunking · indexing · retrieval · baseline · wiki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5350000"/>
            <a:ext cx="10400000" cy="850000"/>
          </a:xfrm>
          <a:prstGeom prst="roundRect">
            <a:avLst/>
          </a:prstGeom>
          <a:solidFill>
            <a:srgbClr val="F2F5FA"/>
          </a:solidFill>
          <a:ln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2A44"/>
                </a:solidFill>
                <a:latin typeface="Segoe UI"/>
              </a:rPr>
              <a:t>Domain (cuore):  entità · porte (EmbeddingProvider, VectorStore, LLMProvider) · errori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6250000"/>
            <a:ext cx="10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Segoe UI"/>
              </a:rPr>
              <a:t>Il core non importa SDK di provider né la CLI; gli adapter dipendono dalle astrazioni; il wiring sta nel composition root.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2400000"/>
            <a:ext cx="240000" cy="1600000"/>
          </a:xfrm>
          <a:prstGeom prst="roundRect">
            <a:avLst/>
          </a:prstGeom>
          <a:solidFill>
            <a:srgbClr val="2D6CDF"/>
          </a:solidFill>
          <a:ln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0000" y="2400000"/>
            <a:ext cx="100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6CDF"/>
                </a:solidFill>
                <a:latin typeface="Segoe UI"/>
              </a:rPr>
              <a:t>Atto 3</a:t>
            </a:r>
          </a:p>
          <a:p>
            <a:pPr algn="l"/>
            <a:r>
              <a:rPr sz="4000" b="1">
                <a:solidFill>
                  <a:srgbClr val="1F2A44"/>
                </a:solidFill>
                <a:latin typeface="Segoe UI"/>
              </a:rPr>
              <a:t>Stato attuale</a:t>
            </a:r>
          </a:p>
          <a:p>
            <a:pPr algn="l"/>
            <a:r>
              <a:rPr sz="2000" b="0">
                <a:solidFill>
                  <a:srgbClr val="5F6B7A"/>
                </a:solidFill>
                <a:latin typeface="Segoe UI"/>
              </a:rPr>
              <a:t>MVP del core in produzione, dogfoodato su sé stesso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950000"/>
          </a:xfrm>
          <a:prstGeom prst="roundRect">
            <a:avLst/>
          </a:prstGeom>
          <a:solidFill>
            <a:srgbClr val="1F2A44"/>
          </a:solidFill>
          <a:ln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3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Atto 3 — Cosa funziona oggi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250000"/>
            <a:ext cx="106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E8E3E"/>
                </a:solidFill>
                <a:latin typeface="Segoe UI"/>
              </a:rPr>
              <a:t>•  MVP del core completo e in `master`: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Nucleo di retrieval · Motore RAG baseline · Skill LLM Wiki (crea + indicizza).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CLI `sertor`: `index` / `search` / `wiki index` + osservabilità (log/Splunk).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Server MCP sul motore nuovo: Claude interroga Sertor come strumento.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2D6CDF"/>
                </a:solidFill>
                <a:latin typeface="Segoe UI"/>
              </a:rPr>
              <a:t>•  Dogfooding di produzione: indicizzato Sertor stesso su Azure (embeddings) + Chroma.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B86E00"/>
                </a:solidFill>
                <a:latin typeface="Segoe UI"/>
              </a:rPr>
              <a:t>    –  Il dogfooding reale ha scovato 4 bug invisibili ai test con mock → tutti corretti con regressioni.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950000"/>
          </a:xfrm>
          <a:prstGeom prst="roundRect">
            <a:avLst/>
          </a:prstGeom>
          <a:solidFill>
            <a:srgbClr val="1F2A44"/>
          </a:solidFill>
          <a:ln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3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Stato attuale — in numeri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0000" y="1500000"/>
            <a:ext cx="3500000" cy="1800000"/>
          </a:xfrm>
          <a:prstGeom prst="roundRect">
            <a:avLst/>
          </a:prstGeom>
          <a:solidFill>
            <a:srgbClr val="F2F5FA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E8E3E"/>
                </a:solidFill>
                <a:latin typeface="Segoe UI"/>
              </a:rPr>
              <a:t>3 / 3</a:t>
            </a:r>
          </a:p>
          <a:p>
            <a:pPr algn="ctr"/>
            <a:r>
              <a:rPr sz="1500" b="0">
                <a:solidFill>
                  <a:srgbClr val="5F6B7A"/>
                </a:solidFill>
                <a:latin typeface="Segoe UI"/>
              </a:rPr>
              <a:t>Must del core (MVP) completi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00000" y="1500000"/>
            <a:ext cx="3500000" cy="1800000"/>
          </a:xfrm>
          <a:prstGeom prst="roundRect">
            <a:avLst/>
          </a:prstGeom>
          <a:solidFill>
            <a:srgbClr val="F2F5FA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2D6CDF"/>
                </a:solidFill>
                <a:latin typeface="Segoe UI"/>
              </a:rPr>
              <a:t>108</a:t>
            </a:r>
          </a:p>
          <a:p>
            <a:pPr algn="ctr"/>
            <a:r>
              <a:rPr sz="1500" b="0">
                <a:solidFill>
                  <a:srgbClr val="5F6B7A"/>
                </a:solidFill>
                <a:latin typeface="Segoe UI"/>
              </a:rPr>
              <a:t>test verdi (+2 xfail)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00000" y="1500000"/>
            <a:ext cx="3500000" cy="1800000"/>
          </a:xfrm>
          <a:prstGeom prst="roundRect">
            <a:avLst/>
          </a:prstGeom>
          <a:solidFill>
            <a:srgbClr val="F2F5FA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2D6CDF"/>
                </a:solidFill>
                <a:latin typeface="Segoe UI"/>
              </a:rPr>
              <a:t>9</a:t>
            </a:r>
          </a:p>
          <a:p>
            <a:pPr algn="ctr"/>
            <a:r>
              <a:rPr sz="1500" b="0">
                <a:solidFill>
                  <a:srgbClr val="5F6B7A"/>
                </a:solidFill>
                <a:latin typeface="Segoe UI"/>
              </a:rPr>
              <a:t>PR mergiate (pipeline SpecKit)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000" y="3650000"/>
            <a:ext cx="3500000" cy="1800000"/>
          </a:xfrm>
          <a:prstGeom prst="roundRect">
            <a:avLst/>
          </a:prstGeom>
          <a:solidFill>
            <a:srgbClr val="F2F5FA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B86E00"/>
                </a:solidFill>
                <a:latin typeface="Segoe UI"/>
              </a:rPr>
              <a:t>147 / 1226</a:t>
            </a:r>
          </a:p>
          <a:p>
            <a:pPr algn="ctr"/>
            <a:r>
              <a:rPr sz="1500" b="0">
                <a:solidFill>
                  <a:srgbClr val="5F6B7A"/>
                </a:solidFill>
                <a:latin typeface="Segoe UI"/>
              </a:rPr>
              <a:t>documenti / chunk indicizzati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00000" y="3650000"/>
            <a:ext cx="3500000" cy="1800000"/>
          </a:xfrm>
          <a:prstGeom prst="roundRect">
            <a:avLst/>
          </a:prstGeom>
          <a:solidFill>
            <a:srgbClr val="F2F5FA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E8E3E"/>
                </a:solidFill>
                <a:latin typeface="Segoe UI"/>
              </a:rPr>
              <a:t>9 / 9</a:t>
            </a:r>
          </a:p>
          <a:p>
            <a:pPr algn="ctr"/>
            <a:r>
              <a:rPr sz="1500" b="0">
                <a:solidFill>
                  <a:srgbClr val="5F6B7A"/>
                </a:solidFill>
                <a:latin typeface="Segoe UI"/>
              </a:rPr>
              <a:t>principi di Costituzione rispettati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00000" y="3650000"/>
            <a:ext cx="3500000" cy="1800000"/>
          </a:xfrm>
          <a:prstGeom prst="roundRect">
            <a:avLst/>
          </a:prstGeom>
          <a:solidFill>
            <a:srgbClr val="F2F5FA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B86E00"/>
                </a:solidFill>
                <a:latin typeface="Segoe UI"/>
              </a:rPr>
              <a:t>4</a:t>
            </a:r>
          </a:p>
          <a:p>
            <a:pPr algn="ctr"/>
            <a:r>
              <a:rPr sz="1500" b="0">
                <a:solidFill>
                  <a:srgbClr val="5F6B7A"/>
                </a:solidFill>
                <a:latin typeface="Segoe UI"/>
              </a:rPr>
              <a:t>bug trovati dal dogfooding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2400000"/>
            <a:ext cx="240000" cy="1600000"/>
          </a:xfrm>
          <a:prstGeom prst="roundRect">
            <a:avLst/>
          </a:prstGeom>
          <a:solidFill>
            <a:srgbClr val="2D6CDF"/>
          </a:solidFill>
          <a:ln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0000" y="2400000"/>
            <a:ext cx="100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6CDF"/>
                </a:solidFill>
                <a:latin typeface="Segoe UI"/>
              </a:rPr>
              <a:t>Atto 4</a:t>
            </a:r>
          </a:p>
          <a:p>
            <a:pPr algn="l"/>
            <a:r>
              <a:rPr sz="4000" b="1">
                <a:solidFill>
                  <a:srgbClr val="1F2A44"/>
                </a:solidFill>
                <a:latin typeface="Segoe UI"/>
              </a:rPr>
              <a:t>Piano futuro</a:t>
            </a:r>
          </a:p>
          <a:p>
            <a:pPr algn="l"/>
            <a:r>
              <a:rPr sz="2000" b="0">
                <a:solidFill>
                  <a:srgbClr val="5F6B7A"/>
                </a:solidFill>
                <a:latin typeface="Segoe UI"/>
              </a:rPr>
              <a:t>Dai motori avanzati alla distribuzione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950000"/>
          </a:xfrm>
          <a:prstGeom prst="roundRect">
            <a:avLst/>
          </a:prstGeom>
          <a:solidFill>
            <a:srgbClr val="1F2A44"/>
          </a:solidFill>
          <a:ln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3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Piano futuro —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000" y="1300000"/>
            <a:ext cx="3600000" cy="650000"/>
          </a:xfrm>
          <a:prstGeom prst="roundRect">
            <a:avLst/>
          </a:prstGeom>
          <a:solidFill>
            <a:srgbClr val="1E8E3E"/>
          </a:solidFill>
          <a:ln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 Fatto (in produzione)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2050000"/>
            <a:ext cx="3600000" cy="3900000"/>
          </a:xfrm>
          <a:prstGeom prst="roundRect">
            <a:avLst/>
          </a:prstGeom>
          <a:solidFill>
            <a:srgbClr val="F2F5FA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Nucleo di retrieval (FEAT-001)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Motore baseline (FEAT-002)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Skill LLM Wiki (FEAT-003)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CLI `sertor` (esecuzione)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Server MCP sul motore nuovo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Dogfooding su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50000" y="1300000"/>
            <a:ext cx="3600000" cy="650000"/>
          </a:xfrm>
          <a:prstGeom prst="roundRect">
            <a:avLst/>
          </a:prstGeom>
          <a:solidFill>
            <a:srgbClr val="2D6CDF"/>
          </a:solidFill>
          <a:ln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▶ Prossimo (Should)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0000" y="2050000"/>
            <a:ext cx="3600000" cy="3900000"/>
          </a:xfrm>
          <a:prstGeom prst="roundRect">
            <a:avLst/>
          </a:prstGeom>
          <a:solidFill>
            <a:srgbClr val="F2F5FA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RAG ibrido + reranking (FEAT-004)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RAG a grafo / GraphRAG (FEAT-005)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RAG agentico (FEAT-006)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Manutenzione wiki (FEAT-007)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CLI: install selettivo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00000" y="1300000"/>
            <a:ext cx="3600000" cy="650000"/>
          </a:xfrm>
          <a:prstGeom prst="roundRect">
            <a:avLst/>
          </a:prstGeom>
          <a:solidFill>
            <a:srgbClr val="5F6B7A"/>
          </a:solidFill>
          <a:ln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◌ Dopo (Could / Won't ora)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00000" y="2050000"/>
            <a:ext cx="3600000" cy="3900000"/>
          </a:xfrm>
          <a:prstGeom prst="roundRect">
            <a:avLst/>
          </a:prstGeom>
          <a:solidFill>
            <a:srgbClr val="F2F5FA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Arricchimento Wiki↔RAG (FEAT-008)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Refresh incrementale (FEAT-009)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CLI: wizard config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•  Distribuzione PyPI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950000"/>
          </a:xfrm>
          <a:prstGeom prst="roundRect">
            <a:avLst/>
          </a:prstGeom>
          <a:solidFill>
            <a:srgbClr val="1F2A44"/>
          </a:solidFill>
          <a:ln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3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Questioni aperte &amp; come contribuire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250000"/>
            <a:ext cx="106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Aperte (per scelta):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Fissare le soglie di pertinenza misurando su un ground-truth reale (ora possibile su Azure).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Promuovere PowerShell / SQL da chunking di fallback a sintattico.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Segoe UI"/>
              </a:rPr>
              <a:t>•  Come usarlo (per il team):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A"/>
                </a:solidFill>
                <a:latin typeface="Segoe UI"/>
              </a:rPr>
              <a:t>    –  `uv pip install -e .` → comando `sertor`; oppure i tool MCP `search_code/docs/combined` in Claude.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8E3E"/>
                </a:solidFill>
                <a:latin typeface="Segoe UI"/>
              </a:rPr>
              <a:t>    –  Ogni nuova capacità segue la stessa pipeline SpecKit, sotto Costituzione.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6200000"/>
            <a:ext cx="10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Segoe UI"/>
              </a:rPr>
              <a:t>Domande? — il wiki di progetto documenta design, implementazione e dogfooding in modo cumulativo.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